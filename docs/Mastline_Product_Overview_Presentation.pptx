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3504f81bf4e1a" /><Relationship Type="http://schemas.openxmlformats.org/officeDocument/2006/relationships/extended-properties" Target="/docProps/app.xml" Id="R0e6427730d274a42" /><Relationship Type="http://schemas.openxmlformats.org/officeDocument/2006/relationships/officeDocument" Target="/ppt/presentation.xml" Id="R5be66661a879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93d6e4f4f46f3"/>
  </p:sldMasterIdLst>
  <p:notesMasterIdLst>
    <p:notesMasterId xmlns:r="http://schemas.openxmlformats.org/officeDocument/2006/relationships" r:id="Rc0b0b2054e0e4434"/>
  </p:notesMasterIdLst>
  <p:sldIdLst>
    <p:sldId xmlns:r="http://schemas.openxmlformats.org/officeDocument/2006/relationships" id="256" r:id="R8458edea5b474ca5"/>
    <p:sldId xmlns:r="http://schemas.openxmlformats.org/officeDocument/2006/relationships" id="257" r:id="R3d98c4c7e15549bc"/>
    <p:sldId xmlns:r="http://schemas.openxmlformats.org/officeDocument/2006/relationships" id="258" r:id="Ree6fb674c0e840fb"/>
    <p:sldId xmlns:r="http://schemas.openxmlformats.org/officeDocument/2006/relationships" id="259" r:id="Rf1b4c456e8d345f8"/>
    <p:sldId xmlns:r="http://schemas.openxmlformats.org/officeDocument/2006/relationships" id="260" r:id="Rb0a13f4e94fb4335"/>
    <p:sldId xmlns:r="http://schemas.openxmlformats.org/officeDocument/2006/relationships" id="261" r:id="R49787ebca3604d0d"/>
    <p:sldId xmlns:r="http://schemas.openxmlformats.org/officeDocument/2006/relationships" id="262" r:id="R8b6ea008725d4855"/>
    <p:sldId xmlns:r="http://schemas.openxmlformats.org/officeDocument/2006/relationships" id="263" r:id="Rba43f27ccbd14d1d"/>
    <p:sldId xmlns:r="http://schemas.openxmlformats.org/officeDocument/2006/relationships" id="264" r:id="R75d856a5dc7f4d78"/>
    <p:sldId xmlns:r="http://schemas.openxmlformats.org/officeDocument/2006/relationships" id="265" r:id="R62360d768a9746cf"/>
    <p:sldId xmlns:r="http://schemas.openxmlformats.org/officeDocument/2006/relationships" id="266" r:id="R6ca40d4c631f4a1a"/>
    <p:sldId xmlns:r="http://schemas.openxmlformats.org/officeDocument/2006/relationships" id="267" r:id="Ra7970ec9ab5b41ee"/>
    <p:sldId xmlns:r="http://schemas.openxmlformats.org/officeDocument/2006/relationships" id="268" r:id="Rfcc5e2043c724714"/>
    <p:sldId xmlns:r="http://schemas.openxmlformats.org/officeDocument/2006/relationships" id="269" r:id="R627a0e3a063c4588"/>
    <p:sldId xmlns:r="http://schemas.openxmlformats.org/officeDocument/2006/relationships" id="270" r:id="Rf3353f76557344a7"/>
    <p:sldId xmlns:r="http://schemas.openxmlformats.org/officeDocument/2006/relationships" id="271" r:id="Rca533bb28217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ca826c02954609" /><Relationship Type="http://schemas.openxmlformats.org/officeDocument/2006/relationships/slideMaster" Target="/ppt/slideMasters/slideMaster1.xml" Id="R98593d6e4f4f46f3" /><Relationship Type="http://schemas.openxmlformats.org/officeDocument/2006/relationships/notesMaster" Target="/ppt/notesMasters/notesMaster1.xml" Id="Rc0b0b2054e0e4434" /><Relationship Type="http://schemas.openxmlformats.org/officeDocument/2006/relationships/presProps" Target="/ppt/presProps.xml" Id="R18eb43bedb7140b0" /><Relationship Type="http://schemas.openxmlformats.org/officeDocument/2006/relationships/tableStyles" Target="/ppt/tableStyles.xml" Id="Rf08088580a3a4733" /><Relationship Type="http://schemas.openxmlformats.org/officeDocument/2006/relationships/slide" Target="/ppt/slides/slide1.xml" Id="R8458edea5b474ca5" /><Relationship Type="http://schemas.openxmlformats.org/officeDocument/2006/relationships/slide" Target="/ppt/slides/slide2.xml" Id="R3d98c4c7e15549bc" /><Relationship Type="http://schemas.openxmlformats.org/officeDocument/2006/relationships/slide" Target="/ppt/slides/slide3.xml" Id="Ree6fb674c0e840fb" /><Relationship Type="http://schemas.openxmlformats.org/officeDocument/2006/relationships/slide" Target="/ppt/slides/slide4.xml" Id="Rf1b4c456e8d345f8" /><Relationship Type="http://schemas.openxmlformats.org/officeDocument/2006/relationships/slide" Target="/ppt/slides/slide5.xml" Id="Rb0a13f4e94fb4335" /><Relationship Type="http://schemas.openxmlformats.org/officeDocument/2006/relationships/slide" Target="/ppt/slides/slide6.xml" Id="R49787ebca3604d0d" /><Relationship Type="http://schemas.openxmlformats.org/officeDocument/2006/relationships/slide" Target="/ppt/slides/slide7.xml" Id="R8b6ea008725d4855" /><Relationship Type="http://schemas.openxmlformats.org/officeDocument/2006/relationships/slide" Target="/ppt/slides/slide8.xml" Id="Rba43f27ccbd14d1d" /><Relationship Type="http://schemas.openxmlformats.org/officeDocument/2006/relationships/slide" Target="/ppt/slides/slide9.xml" Id="R75d856a5dc7f4d78" /><Relationship Type="http://schemas.openxmlformats.org/officeDocument/2006/relationships/slide" Target="/ppt/slides/slide10.xml" Id="R62360d768a9746cf" /><Relationship Type="http://schemas.openxmlformats.org/officeDocument/2006/relationships/slide" Target="/ppt/slides/slide11.xml" Id="R6ca40d4c631f4a1a" /><Relationship Type="http://schemas.openxmlformats.org/officeDocument/2006/relationships/slide" Target="/ppt/slides/slide12.xml" Id="Ra7970ec9ab5b41ee" /><Relationship Type="http://schemas.openxmlformats.org/officeDocument/2006/relationships/slide" Target="/ppt/slides/slide13.xml" Id="Rfcc5e2043c724714" /><Relationship Type="http://schemas.openxmlformats.org/officeDocument/2006/relationships/slide" Target="/ppt/slides/slide14.xml" Id="R627a0e3a063c4588" /><Relationship Type="http://schemas.openxmlformats.org/officeDocument/2006/relationships/slide" Target="/ppt/slides/slide15.xml" Id="Rf3353f76557344a7" /><Relationship Type="http://schemas.openxmlformats.org/officeDocument/2006/relationships/slide" Target="/ppt/slides/slide16.xml" Id="Rca533bb28217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0589bcc4048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d1958a44f34909" /><Relationship Type="http://schemas.openxmlformats.org/officeDocument/2006/relationships/notesMaster" Target="/ppt/notesMasters/notesMaster1.xml" Id="Raf6e95e3dd05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3315bce674567" /><Relationship Type="http://schemas.openxmlformats.org/officeDocument/2006/relationships/notesMaster" Target="/ppt/notesMasters/notesMaster1.xml" Id="R2746939d1cf5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8950b2fb14ecb" /><Relationship Type="http://schemas.openxmlformats.org/officeDocument/2006/relationships/notesMaster" Target="/ppt/notesMasters/notesMaster1.xml" Id="R457a37c2e8ee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6759a77644444" /><Relationship Type="http://schemas.openxmlformats.org/officeDocument/2006/relationships/notesMaster" Target="/ppt/notesMasters/notesMaster1.xml" Id="Rc3465229b161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155898fdb1410b" /><Relationship Type="http://schemas.openxmlformats.org/officeDocument/2006/relationships/notesMaster" Target="/ppt/notesMasters/notesMaster1.xml" Id="R99d18f2a9e5f44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ed00823dc547d9" /><Relationship Type="http://schemas.openxmlformats.org/officeDocument/2006/relationships/notesMaster" Target="/ppt/notesMasters/notesMaster1.xml" Id="R1b0e540db3d1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95526d0a9c46eb" /><Relationship Type="http://schemas.openxmlformats.org/officeDocument/2006/relationships/notesMaster" Target="/ppt/notesMasters/notesMaster1.xml" Id="R35b72eac70b946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109648a09c44af" /><Relationship Type="http://schemas.openxmlformats.org/officeDocument/2006/relationships/notesMaster" Target="/ppt/notesMasters/notesMaster1.xml" Id="Rc88d2d4da30a45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90fe0d3801488a" /><Relationship Type="http://schemas.openxmlformats.org/officeDocument/2006/relationships/notesMaster" Target="/ppt/notesMasters/notesMaster1.xml" Id="Rd1192585a30540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1cfa372ddc4783" /><Relationship Type="http://schemas.openxmlformats.org/officeDocument/2006/relationships/notesMaster" Target="/ppt/notesMasters/notesMaster1.xml" Id="R3f52f3870ecc42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11255be8cc4f6c" /><Relationship Type="http://schemas.openxmlformats.org/officeDocument/2006/relationships/notesMaster" Target="/ppt/notesMasters/notesMaster1.xml" Id="R2320da6070d342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65f5a851734de5" /><Relationship Type="http://schemas.openxmlformats.org/officeDocument/2006/relationships/notesMaster" Target="/ppt/notesMasters/notesMaster1.xml" Id="Re6e772076d5e46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bc3bc90df84cf2" /><Relationship Type="http://schemas.openxmlformats.org/officeDocument/2006/relationships/notesMaster" Target="/ppt/notesMasters/notesMaster1.xml" Id="R2983845420774a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bee3a8867b4ed3" /><Relationship Type="http://schemas.openxmlformats.org/officeDocument/2006/relationships/notesMaster" Target="/ppt/notesMasters/notesMaster1.xml" Id="R40d2929af0094b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0f4c8878fc411f" /><Relationship Type="http://schemas.openxmlformats.org/officeDocument/2006/relationships/notesMaster" Target="/ppt/notesMasters/notesMaster1.xml" Id="Rc899528b5e0344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5bead1c6e4470a" /><Relationship Type="http://schemas.openxmlformats.org/officeDocument/2006/relationships/notesMaster" Target="/ppt/notesMasters/notesMaster1.xml" Id="R79527edbaa6c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  <a:p xmlns:a="http://schemas.openxmlformats.org/drawingml/2006/main">
            <a:r>
              <a:t>- User-provided project direction: Mastline retains a 30% platform fee on direct photo sales.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‘Mastline Product Overview,’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3ebcfded945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6beb5e8f024b8b" /><Relationship Type="http://schemas.openxmlformats.org/officeDocument/2006/relationships/slideLayout" Target="/ppt/slideLayouts/slideLayout1.xml" Id="R8c4256110ea24c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256110ea24c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8da9f78fb4b6c" /><Relationship Type="http://schemas.openxmlformats.org/officeDocument/2006/relationships/notesSlide" Target="/ppt/notesSlides/notesSlide1.xml" Id="R2913ad7e0b20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4269d53e24d9f" /><Relationship Type="http://schemas.openxmlformats.org/officeDocument/2006/relationships/notesSlide" Target="/ppt/notesSlides/notesSlide2.xml" Id="R90f0439cf1a7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b5cb0395143be" /><Relationship Type="http://schemas.openxmlformats.org/officeDocument/2006/relationships/notesSlide" Target="/ppt/notesSlides/notesSlide3.xml" Id="R1ad27b15b42c48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5373ed7f14ebc" /><Relationship Type="http://schemas.openxmlformats.org/officeDocument/2006/relationships/notesSlide" Target="/ppt/notesSlides/notesSlide4.xml" Id="R5a988a31ea1e4a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0c32cf1b94228" /><Relationship Type="http://schemas.openxmlformats.org/officeDocument/2006/relationships/notesSlide" Target="/ppt/notesSlides/notesSlide5.xml" Id="R8290b0ce52f245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7fd9f2c743dc" /><Relationship Type="http://schemas.openxmlformats.org/officeDocument/2006/relationships/notesSlide" Target="/ppt/notesSlides/notesSlide6.xml" Id="Rb65de0ff3938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134cc0741402d" /><Relationship Type="http://schemas.openxmlformats.org/officeDocument/2006/relationships/notesSlide" Target="/ppt/notesSlides/notesSlide7.xml" Id="R2b89114f326f44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0573e0a6d44b5" /><Relationship Type="http://schemas.openxmlformats.org/officeDocument/2006/relationships/notesSlide" Target="/ppt/notesSlides/notesSlide8.xml" Id="R548bff304eb642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e4da8b0df445d" /><Relationship Type="http://schemas.openxmlformats.org/officeDocument/2006/relationships/notesSlide" Target="/ppt/notesSlides/notesSlide9.xml" Id="Rf3bd94aacf044d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78877ee804f50" /><Relationship Type="http://schemas.openxmlformats.org/officeDocument/2006/relationships/notesSlide" Target="/ppt/notesSlides/notesSlide10.xml" Id="R23d7146c7a21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675ba9a4242b2" /><Relationship Type="http://schemas.openxmlformats.org/officeDocument/2006/relationships/notesSlide" Target="/ppt/notesSlides/notesSlide11.xml" Id="Rd314958b5b1c4e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7412518a140eb" /><Relationship Type="http://schemas.openxmlformats.org/officeDocument/2006/relationships/notesSlide" Target="/ppt/notesSlides/notesSlide12.xml" Id="R35e490c6555846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da53bd4114b0a" /><Relationship Type="http://schemas.openxmlformats.org/officeDocument/2006/relationships/notesSlide" Target="/ppt/notesSlides/notesSlide13.xml" Id="Ra9283e3153154a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c08bfb8cf4d5c" /><Relationship Type="http://schemas.openxmlformats.org/officeDocument/2006/relationships/notesSlide" Target="/ppt/notesSlides/notesSlide14.xml" Id="Ra1acca58485a4e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4ec5077ca4b31" /><Relationship Type="http://schemas.openxmlformats.org/officeDocument/2006/relationships/notesSlide" Target="/ppt/notesSlides/notesSlide15.xml" Id="Rf312b73813ec42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96077638d4432" /><Relationship Type="http://schemas.openxmlformats.org/officeDocument/2006/relationships/notesSlide" Target="/ppt/notesSlides/notesSlide16.xml" Id="R570fa3cfbc1e4c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6CEC4-C3D0-4DE9-B140-456CDCC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4848"/>
            <a:ext cx="775335" cy="502920"/>
          </a:xfrm>
          <a:prstGeom xmlns:a="http://schemas.openxmlformats.org/drawingml/2006/main" prst="roundRect">
            <a:avLst>
              <a:gd name="adj" fmla="val 14583"/>
            </a:avLst>
          </a:prstGeom>
          <a:noFill xmlns:a="http://schemas.openxmlformats.org/drawingml/2006/main"/>
          <a:ln xmlns:a="http://schemas.openxmlformats.org/drawingml/2006/main" w="26194">
            <a:solidFill>
              <a:srgbClr val="1212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B594-D9D6-4877-9B73-9F551E87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" y="590550"/>
            <a:ext cx="251460" cy="13620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12121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81C97-365C-4D04-A653-036C871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" y="789623"/>
            <a:ext cx="261938" cy="2619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194">
            <a:solidFill>
              <a:srgbClr val="1212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1B2E1-DF04-4510-9A57-5C43A73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" y="75819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06EC0-6924-49C9-9610-793D55E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048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PRODUCT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51D7D-33D9-4AEE-AC37-54E96DE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57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300" b="1" i="0">
                <a:solidFill>
                  <a:srgbClr val="121212"/>
                </a:solidFill>
              </a:defRPr>
            </a:pPr>
            <a:r>
              <a:rPr sz="630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A0427-26F5-4D98-BBC9-C731267F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7CFEC-3C2E-4EDE-A39E-BF3FC25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1212"/>
                </a:solidFill>
              </a:defRPr>
            </a:pPr>
            <a:r>
              <a:rPr sz="2025" b="1" i="0">
                <a:solidFill>
                  <a:srgbClr val="121212"/>
                </a:solidFill>
              </a:rPr>
              <a:t>The business operating system for paparazzi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11379-47A4-4D24-A400-44BAAB6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A655E"/>
                </a:solidFill>
              </a:defRPr>
            </a:pPr>
            <a:r>
              <a:rPr sz="1800" b="0" i="0">
                <a:solidFill>
                  <a:srgbClr val="6A655E"/>
                </a:solidFill>
              </a:rPr>
              <a:t>One connected workspace for opportunities, shoots, dispatch, rights, payments, and archive revenue.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E11F1-F2C9-4111-BBF4-F79320A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70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19DF7-B03A-4D0F-A5F7-4111202E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WORKING PRODUCT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DDE01-480E-4F9C-9641-CBFE7F8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62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2037068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36311-7BE3-42F3-AFD3-67AFBAF8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95BF8-C9CF-4E11-8520-D447F68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9063A-03A6-4603-BA17-49D23C8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B63D8-982A-46A1-AFE7-AD04895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A0F24-027D-457A-A42D-A2FA660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0BF68-AE04-4E26-9DA0-1EA1010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The image moves fast. The business record does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7F6FF-563A-4664-BC1C-DDFCFE4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42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A655E"/>
                </a:solidFill>
              </a:defRPr>
            </a:pPr>
            <a:r>
              <a:rPr sz="1800" b="0" i="0">
                <a:solidFill>
                  <a:srgbClr val="6A655E"/>
                </a:solidFill>
              </a:rPr>
              <a:t>Paparazzi work is operationally intense but commercially under-instrumented. Critical facts scatter across tools, threads, portals, and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25C95-E775-414E-AF72-C51AA4D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9252D"/>
                </a:solidFill>
              </a:defRPr>
            </a:pPr>
            <a:r>
              <a:rPr sz="1200" b="1" i="0">
                <a:solidFill>
                  <a:srgbClr val="C9252D"/>
                </a:solidFill>
              </a:rPr>
              <a:t>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06932-8343-4D4D-AAB5-9B9E75E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4572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1212"/>
                </a:solidFill>
              </a:defRPr>
            </a:pPr>
            <a:r>
              <a:rPr sz="1875" b="1" i="0">
                <a:solidFill>
                  <a:srgbClr val="121212"/>
                </a:solidFill>
              </a:rPr>
              <a:t>Missed opportunities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21212"/>
                </a:solidFill>
              </a:defRPr>
            </a:pPr>
            <a:r>
              <a:rPr sz="1875" b="1" i="0">
                <a:solidFill>
                  <a:srgbClr val="121212"/>
                </a:solidFill>
              </a:rPr>
              <a:t>Slower dispatch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21212"/>
                </a:solidFill>
              </a:defRPr>
            </a:pPr>
            <a:r>
              <a:rPr sz="1875" b="1" i="0">
                <a:solidFill>
                  <a:srgbClr val="121212"/>
                </a:solidFill>
              </a:rPr>
              <a:t>Invisible receivables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21212"/>
                </a:solidFill>
              </a:defRPr>
            </a:pPr>
            <a:r>
              <a:rPr sz="1875" b="1" i="0">
                <a:solidFill>
                  <a:srgbClr val="121212"/>
                </a:solidFill>
              </a:rPr>
              <a:t>Dormant archives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21212"/>
                </a:solidFill>
              </a:defRPr>
            </a:pPr>
            <a:r>
              <a:rPr sz="1875" b="1" i="0">
                <a:solidFill>
                  <a:srgbClr val="121212"/>
                </a:solidFill>
              </a:rPr>
              <a:t>Unresolved usage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E21ED-1BC0-45C3-A6DA-2BA3509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Texts &amp; tips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36D9D-7B7A-4901-9EFB-7036ADB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D851D-25F0-4BDE-862C-63759E93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Maps &amp;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E69CA-D8E1-4C0C-BBB4-DEF7EBB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1DB20-5FBE-46C0-A12B-D8A2711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Memory 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A657E-545A-46D0-B955-2F14EA4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68BAD-C690-4AE6-8872-5A39669B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Editing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8AB61-9A69-4BDE-813E-4D3CF918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30EA6-F8F1-4638-A1D3-13D84207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Agency portals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C82A5-775D-431B-A22E-E97BB7F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69469-E4C8-409A-9845-EBFCDDB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Spreadsheets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D29E5-DE22-4B80-B1D2-4609E01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48191-8F97-4E64-A308-C363545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Email &amp; invoices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BC5E2-944C-45D3-8E3A-0EF60E2F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673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D5D2C-6186-4F50-A9E2-4EB59C7B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48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Rights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7EA6E-C123-411C-AD3F-D09BF61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0070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25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DB4E3-6989-4DEF-B2E3-39D8713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57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1">
                <a:solidFill>
                  <a:srgbClr val="C9252D"/>
                </a:solidFill>
              </a:defRPr>
            </a:pPr>
            <a:r>
              <a:rPr sz="1425" b="0" i="1">
                <a:solidFill>
                  <a:srgbClr val="C9252D"/>
                </a:solidFill>
              </a:rPr>
              <a:t>No single system preserves the commercial history connecting them.</a:t>
            </a:r>
          </a:p>
        </p:txBody>
      </p:sp>
    </p:spTree>
    <p:extLst>
      <p:ext uri="{BB962C8B-B14F-4D97-AF65-F5344CB8AC3E}">
        <p14:creationId xmlns:p14="http://schemas.microsoft.com/office/powerpoint/2010/main" val="1366678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14D37-E846-4822-86B1-CF6D68C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BF9F4"/>
                </a:solidFill>
              </a:defRPr>
            </a:pPr>
            <a:r>
              <a:rPr sz="1350" b="1" i="0">
                <a:solidFill>
                  <a:srgbClr val="FBF9F4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DCE37-4E53-4F3E-AC70-A1B3779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DBCF2-974E-4F94-A7BC-C6366140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BEB7AE"/>
                </a:solidFill>
              </a:defRPr>
            </a:pPr>
            <a:r>
              <a:rPr sz="900" b="1" i="0">
                <a:solidFill>
                  <a:srgbClr val="BEB7AE"/>
                </a:solidFill>
              </a:rPr>
              <a:t>CORE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4BCBB-6BCD-4339-9B47-A40667F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BEB7AE"/>
                </a:solidFill>
              </a:defRPr>
            </a:pPr>
            <a:r>
              <a:rPr sz="900" b="1" i="0">
                <a:solidFill>
                  <a:srgbClr val="BEB7A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B03BF-7680-4DBA-9EE5-3EB4033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86D71-1DFE-4FDF-8F4C-FDAFE5B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FBF9F4"/>
                </a:solidFill>
              </a:defRPr>
            </a:pPr>
            <a:r>
              <a:rPr sz="3150" b="0" i="0">
                <a:solidFill>
                  <a:srgbClr val="FBF9F4"/>
                </a:solidFill>
              </a:rPr>
              <a:t>Every image needs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7DA10-F52B-42EC-A330-828B0A0B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FBF9F4"/>
                </a:solidFill>
              </a:defRPr>
            </a:pPr>
            <a:r>
              <a:rPr sz="5400" b="1" i="0">
                <a:solidFill>
                  <a:srgbClr val="FBF9F4"/>
                </a:solidFill>
              </a:rPr>
              <a:t>commercial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E3540-5CBF-4E27-A0D1-3C5D1831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44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D3605-1C64-4D40-811A-95058A6E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C74FB-6F35-4EF7-8B72-E1C3648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Where did it come from?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7F061-C162-4E42-A3C7-11CCECA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67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FF7A1-ECDE-4DA7-84E4-1FADBBD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24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Where did it go?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6E337-5BF7-4541-BA50-8A2B90C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67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EA98D-41DD-4DB5-877E-EE8D2623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24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What did it earn?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4C4E0-567B-4FC3-BF1E-224D28E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7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27280-FEBA-4B46-B16A-F61C334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24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How may it be used?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F1676-1E55-4EDE-B09C-501AA75C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CD112-7888-44B9-83BE-79854844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24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When is it valuable again?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B50F9-CCA7-47A1-86A7-2FA232F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BEB7AE"/>
                </a:solidFill>
              </a:defRPr>
            </a:pPr>
            <a:r>
              <a:rPr sz="1800" b="0" i="0">
                <a:solidFill>
                  <a:srgbClr val="BEB7AE"/>
                </a:solidFill>
              </a:rPr>
              <a:t>Mastline turns operational actions into a durable commercial record around the work.</a:t>
            </a:r>
          </a:p>
        </p:txBody>
      </p:sp>
    </p:spTree>
    <p:extLst>
      <p:ext uri="{BB962C8B-B14F-4D97-AF65-F5344CB8AC3E}">
        <p14:creationId xmlns:p14="http://schemas.microsoft.com/office/powerpoint/2010/main" val="1232585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9F918-A182-4131-910D-784790A6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C9ED7-BB94-4BD4-ABF0-B7ABF1A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7B697-65C7-411E-8929-25E51505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PRODUCT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3995A-5DAE-4081-8314-5E10E9D2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51CE8-2D2C-4C05-BC85-9ECB10C1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46C57-0024-444A-9475-50B564A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A system of record—and a system of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7F993-6F0B-40CA-B587-50750D0A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A655E"/>
                </a:solidFill>
              </a:defRPr>
            </a:pPr>
            <a:r>
              <a:rPr sz="1650" b="0" i="0">
                <a:solidFill>
                  <a:srgbClr val="6A655E"/>
                </a:solidFill>
              </a:rPr>
              <a:t>Mastline connects workflow management, asset intelligence, sales operations, revenue tracking, archive activation, and rights oversight in one product designed for news urgency.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BD5EE-0236-4559-827F-C6533FFE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D9B7F-DB80-48BB-A6CD-58B14F55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B5A95-C8C4-4F18-BCF5-6340F80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76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21212"/>
                </a:solidFill>
              </a:defRPr>
            </a:pPr>
            <a:r>
              <a:rPr sz="1500" b="0" i="0">
                <a:solidFill>
                  <a:srgbClr val="121212"/>
                </a:solidFill>
              </a:rPr>
              <a:t>Vertical SaaS for celebrity and news photography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A8263-26C6-41BF-A44A-D097A4DB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DA125-348F-405A-8488-DD883CA7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PRIMARY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23AD3-FA50-40D0-98A7-B0DEB5A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147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21212"/>
                </a:solidFill>
              </a:defRPr>
            </a:pPr>
            <a:r>
              <a:rPr sz="1500" b="0" i="0">
                <a:solidFill>
                  <a:srgbClr val="121212"/>
                </a:solidFill>
              </a:rPr>
              <a:t>Independent paparazzi and owner-operators; later, small teams and agencies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051BC-75E8-46F1-94D9-5D25C4E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8A647-374B-49FA-8DB6-81BC7B9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CORE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4B5CD-8927-4320-AADD-D2EEF9B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Move from opportunity to payment with less friction and better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FF5BD-8A3A-4B4A-9635-BD89C4E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A4D32-31E9-40A7-B01F-90C5829C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INITIAL WEDGE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93F4F-51EB-498B-97ED-10A560E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21212"/>
                </a:solidFill>
              </a:defRPr>
            </a:pPr>
            <a:r>
              <a:rPr sz="1500" b="0" i="0">
                <a:solidFill>
                  <a:srgbClr val="121212"/>
                </a:solidFill>
              </a:rPr>
              <a:t>Shoot workflow, dispatch, submission tracking, asset records, and payments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25A3D-9D30-4C3C-B22C-6B2AFB3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A9418-85F3-459B-B00B-2CDB77E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LONG-TERM ADVANTAGE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31504-572E-4158-9761-1108B26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29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A proprietary record connecting stories, assets, submissions, usage, and revenue</a:t>
            </a:r>
          </a:p>
        </p:txBody>
      </p:sp>
    </p:spTree>
    <p:extLst>
      <p:ext uri="{BB962C8B-B14F-4D97-AF65-F5344CB8AC3E}">
        <p14:creationId xmlns:p14="http://schemas.microsoft.com/office/powerpoint/2010/main" val="323950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68DC40-77D7-446C-A650-E298D07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E54F3-E6DC-4C98-A16C-F51A3207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C81A6-8AD8-4AE7-AEF5-36646576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SYSTEM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DFD01-72FD-429D-9627-F94D93F8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BD101-C49C-40F1-A9D2-8336144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D61F9-7CAF-4871-BF17-2FC723A2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Each step strengthens the next—and compounds the value of the record.</a:t>
            </a:r>
          </a:p>
        </p:txBody>
      </p:sp>
      <p:sp>
        <p:nvSpPr>
          <p:cNvPr id="7" name="workflow-1">
            <a:extLst xmlns:a="http://schemas.openxmlformats.org/drawingml/2006/main">
              <a:ext uri="{FF2B5EF4-FFF2-40B4-BE49-F238E27FC236}">
                <a16:creationId xmlns:a16="http://schemas.microsoft.com/office/drawing/2014/main" id="{4CE49448-2ECD-4EB2-A302-31A986A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1CEE-1711-431F-9CED-A4585706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F950F-EC01-4C79-8EC9-5BF1AD2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9651-22FA-46E6-849F-B13C683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News, tips, demand</a:t>
            </a:r>
          </a:p>
        </p:txBody>
      </p:sp>
      <p:sp>
        <p:nvSpPr>
          <p:cNvPr id="11" name="workflow-2">
            <a:extLst xmlns:a="http://schemas.openxmlformats.org/drawingml/2006/main">
              <a:ext uri="{FF2B5EF4-FFF2-40B4-BE49-F238E27FC236}">
                <a16:creationId xmlns:a16="http://schemas.microsoft.com/office/drawing/2014/main" id="{563FA495-5EAD-4009-B6A0-47768F4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3B513-39EC-4C41-B12A-7DB5CE56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995D9-CCC7-467B-8F56-8E7DB43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33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CREATE SHOOT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9881A-4FEA-4619-9E87-4C685E4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Story, place, timing</a:t>
            </a:r>
          </a:p>
        </p:txBody>
      </p:sp>
      <p:sp>
        <p:nvSpPr>
          <p:cNvPr id="15" name="workflow-3">
            <a:extLst xmlns:a="http://schemas.openxmlformats.org/drawingml/2006/main">
              <a:ext uri="{FF2B5EF4-FFF2-40B4-BE49-F238E27FC236}">
                <a16:creationId xmlns:a16="http://schemas.microsoft.com/office/drawing/2014/main" id="{19A02E28-CC70-4697-A341-A56FFA0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1CB4C-A162-48A5-AD1E-C7AEA95E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C0F95-BC81-44EF-8503-77F5F56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44C9B-DAF5-49F8-94D7-0F6CEB2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Logistics, files, selects</a:t>
            </a:r>
          </a:p>
        </p:txBody>
      </p:sp>
      <p:sp>
        <p:nvSpPr>
          <p:cNvPr id="19" name="workflow-4">
            <a:extLst xmlns:a="http://schemas.openxmlformats.org/drawingml/2006/main">
              <a:ext uri="{FF2B5EF4-FFF2-40B4-BE49-F238E27FC236}">
                <a16:creationId xmlns:a16="http://schemas.microsoft.com/office/drawing/2014/main" id="{A8499E96-B6FD-4124-8D5A-33EED29A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63D23-AFCF-4128-886B-F841560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C6158-9670-4D94-997C-7804D7D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DISPATCH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AFFD3-A29E-4EC8-8379-383488C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Metadata, package, buyer</a:t>
            </a:r>
          </a:p>
        </p:txBody>
      </p:sp>
      <p:sp>
        <p:nvSpPr>
          <p:cNvPr id="23" name="workflow-5">
            <a:extLst xmlns:a="http://schemas.openxmlformats.org/drawingml/2006/main">
              <a:ext uri="{FF2B5EF4-FFF2-40B4-BE49-F238E27FC236}">
                <a16:creationId xmlns:a16="http://schemas.microsoft.com/office/drawing/2014/main" id="{AA16EC73-E0A3-42C2-B6C0-7B22653E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94C47-28A7-40B8-9F99-5D3981DB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14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1AA89-67FC-4D9B-9076-0800442E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91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SUBMIT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489FD-7FDE-4B68-9487-2D11760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43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Terms, status, feedback</a:t>
            </a:r>
          </a:p>
        </p:txBody>
      </p:sp>
      <p:sp>
        <p:nvSpPr>
          <p:cNvPr id="27" name="workflow-6">
            <a:extLst xmlns:a="http://schemas.openxmlformats.org/drawingml/2006/main">
              <a:ext uri="{FF2B5EF4-FFF2-40B4-BE49-F238E27FC236}">
                <a16:creationId xmlns:a16="http://schemas.microsoft.com/office/drawing/2014/main" id="{4247F500-2A19-4D8F-BBAD-230F575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219AC-14B1-4DE0-B9C2-F1C71E9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14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BA32F-557B-4BC2-AFCF-7C8116B3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91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TRACK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E8FD8-94EC-4B00-9E1F-546A215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3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License, usage, payment</a:t>
            </a:r>
          </a:p>
        </p:txBody>
      </p:sp>
      <p:sp>
        <p:nvSpPr>
          <p:cNvPr id="31" name="workflow-7">
            <a:extLst xmlns:a="http://schemas.openxmlformats.org/drawingml/2006/main">
              <a:ext uri="{FF2B5EF4-FFF2-40B4-BE49-F238E27FC236}">
                <a16:creationId xmlns:a16="http://schemas.microsoft.com/office/drawing/2014/main" id="{F947F3B0-4C09-46A8-B94F-BFACA008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2324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E86217-2A65-487B-930E-921D5594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AE591-EE11-4303-B058-43C90C3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91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212"/>
                </a:solidFill>
              </a:defRPr>
            </a:pPr>
            <a:r>
              <a:rPr sz="1425" b="1" i="0">
                <a:solidFill>
                  <a:srgbClr val="121212"/>
                </a:solidFill>
              </a:rPr>
              <a:t>REACTIVATE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158B9-F66F-4FCB-B6CE-DA9A62DF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Archive match or recovery</a:t>
            </a:r>
          </a:p>
        </p:txBody>
      </p:sp>
      <p:cxnSp>
        <p:nvCxnSpPr>
          <p:cNvPr id="156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09900" y="2905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cxnSp>
        <p:nvCxnSpPr>
          <p:cNvPr id="15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905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cxnSp>
        <p:nvCxnSpPr>
          <p:cNvPr id="158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10600" y="2905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cxnSp>
        <p:nvCxnSpPr>
          <p:cNvPr id="159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219450" y="3486150"/>
            <a:ext cx="70294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cxnSp>
        <p:nvCxnSpPr>
          <p:cNvPr id="160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381500" y="4962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181850" y="4962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D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C8DE71-2B37-47D8-BD04-08698DE4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Opportunity → Shoot → Asset → Submission → License or usage → Payment → Match or recovery</a:t>
            </a:r>
          </a:p>
        </p:txBody>
      </p:sp>
    </p:spTree>
    <p:extLst>
      <p:ext uri="{BB962C8B-B14F-4D97-AF65-F5344CB8AC3E}">
        <p14:creationId xmlns:p14="http://schemas.microsoft.com/office/powerpoint/2010/main" val="687265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1BC26-EAEE-4F71-BE35-5E663D34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4F126-3A70-44CB-847E-383C001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AB6AE-9AAB-447D-BA4E-3B4E3C1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PRODUCT AREAS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0D6A-3096-45D9-8CBA-149F9797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4E8C8-3511-42D8-A0B0-08DD36E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14454-64D0-4F85-B78C-0C214713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Four operating layers cover the complete commercial lifecycle.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30E15-5325-4C16-B63D-91FA989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35217-9F79-4CA0-828B-C157D461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C9252D"/>
                </a:solidFill>
              </a:defRPr>
            </a:pPr>
            <a:r>
              <a:rPr sz="1950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EBA3C-5805-44FC-BB81-692669B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1212"/>
                </a:solidFill>
              </a:defRPr>
            </a:pPr>
            <a:r>
              <a:rPr sz="1275" b="1" i="0">
                <a:solidFill>
                  <a:srgbClr val="121212"/>
                </a:solidFill>
              </a:rPr>
              <a:t>COMMAND &amp; OPPORTUNITY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27A55-7CDC-4C73-917A-7044B3F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News Monitor · Work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045E2-2164-4704-9694-E7A0A9C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621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See what matters now and convert signals into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D5051-643A-4ABD-8A93-DEB26ED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2689D-A42E-4B5C-A581-6447449E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C9252D"/>
                </a:solidFill>
              </a:defRPr>
            </a:pPr>
            <a:r>
              <a:rPr sz="1950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9AFAB-76DC-43C9-857A-A12E4AC0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575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1212"/>
                </a:solidFill>
              </a:defRPr>
            </a:pPr>
            <a:r>
              <a:rPr sz="1275" b="1" i="0">
                <a:solidFill>
                  <a:srgbClr val="121212"/>
                </a:solidFill>
              </a:rPr>
              <a:t>SHOOT &amp; FIELD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92C4F-F415-4AD1-80D0-997149C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81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Create Shoot · Shoot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80825-43EB-4B52-B098-B8C5E55F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Coordinate the brief, logistics, files, selects, and next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80158-854A-46FB-BA33-DB360A5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988D2-538C-45F1-BFD0-B3A1155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C9252D"/>
                </a:solidFill>
              </a:defRPr>
            </a:pPr>
            <a:r>
              <a:rPr sz="1950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AA301-C039-4C93-9E72-AC264F9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1212"/>
                </a:solidFill>
              </a:defRPr>
            </a:pPr>
            <a:r>
              <a:rPr sz="1275" b="1" i="0">
                <a:solidFill>
                  <a:srgbClr val="121212"/>
                </a:solidFill>
              </a:rPr>
              <a:t>DISPATCH &amp; SALES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E0B89-B1A0-41CB-987D-077A4ED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Dispatch Review · Submission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A55C0-4265-4CA4-8C34-390D9650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Deliver buyer-ready packages and preserve every commercial outcome.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FF9B6-8A7A-4AE5-9329-415FBF6B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A547-E938-4F39-BEEE-7712A65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C9252D"/>
                </a:solidFill>
              </a:defRPr>
            </a:pPr>
            <a:r>
              <a:rPr sz="1950" b="1" i="0">
                <a:solidFill>
                  <a:srgbClr val="C9252D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7E7A5-C81E-4A85-91D8-4243F0E3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244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1212"/>
                </a:solidFill>
              </a:defRPr>
            </a:pPr>
            <a:r>
              <a:rPr sz="1275" b="1" i="0">
                <a:solidFill>
                  <a:srgbClr val="121212"/>
                </a:solidFill>
              </a:rPr>
              <a:t>ASSET, RIGHTS &amp; REVENUE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A417B-34A5-4CD6-A682-FA672019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48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Asset Record · Rights Matches · Payments · Archive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DAD600-5AED-4CF1-9165-F83A4CE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625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Track ownership, usage, earnings, and renewed commercial relevance.</a:t>
            </a:r>
          </a:p>
        </p:txBody>
      </p:sp>
    </p:spTree>
    <p:extLst>
      <p:ext uri="{BB962C8B-B14F-4D97-AF65-F5344CB8AC3E}">
        <p14:creationId xmlns:p14="http://schemas.microsoft.com/office/powerpoint/2010/main" val="2128579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E6C476-1C01-45AA-BE30-A6C794C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CF0EB-23E8-4ADD-A826-72E04838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232F1-6D5E-4BF7-A988-9434AA8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CORE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3DEEA-3990-4B32-996B-A6CD0B0B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EC927-31FD-4691-B2C0-EBB6488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06FCB-9BD6-4A1F-ABA4-BC42089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Nine screens answer the questions operators ask under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96026-DDA4-4174-8EBD-3C79E932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3B550-95AC-4E8B-AE2D-E47E0F2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WORK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F44B9-DB58-4CE8-B6EC-75F6BEAD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needs attention now?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1AD6A-470E-4987-80C5-E6D681F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B43F1-A9E4-436B-8FA6-3C49C49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31FAF-7673-4A8A-8BD2-51E7506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NEWS MONITOR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2EB6F-6675-444D-A21A-E165602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is becoming commercially relevant?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7BBC-B10D-4781-A3F1-8AB17B03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E27F1-DE17-4B81-BF18-6C2D50BB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9D560-63DB-4E1F-BC01-AACF63A3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CREATE SHOOT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66AEE-B95A-4726-88CC-CF7587B4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are we pursuing—and for whom?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ECFB7-27D3-4B8B-9FED-93D6A2D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DDCE9-0465-4860-B12C-757B5D6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593A9-FCF6-490A-B2CC-893F369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SHOOT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90582-95DA-47E9-924F-FD8FBCE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is happening and what comes next?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0CE01-0D41-45CD-A8D3-BEFE06D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49DEE-3DD6-4013-9D32-11AD3756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F3749-BBF4-4A72-9075-98F810EB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DISPATCH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303C1-64B7-4146-9C93-D116EC8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Is the package buyer-ready?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E8843-ECEC-4393-B76F-A3506FDB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22333-1388-4736-998C-4ACF65C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CDD9C-7596-41A8-83FD-320BDD1E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71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SUBMISSION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0104D-3216-4F61-8499-AE3DED5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66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was sent, under which terms, with what result?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BDF783-6B3A-47BC-9CEF-72553ED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5EA49-656B-47C9-BEB3-9B1D7236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2A065-7620-4A17-93ED-C450D27F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ASSET 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6E16BB-6ED1-4762-A722-F306103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is the complete commercial history?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B5BBBA-4E2A-46D7-9DAE-2EF95BC0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3151F-17F3-4EEF-AEA9-1669710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F4CD31-6058-43A6-949F-490C4AA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RIGHTS MATCHES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79120-3F3E-450E-8C64-821D5C16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9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Is this usage authorized?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695F4-3E80-46DB-A280-52F70C3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6DB08F-349B-44D0-A5A3-A946FB5E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0D9C80-4D4E-4C6C-8E39-03C1A77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REVENUE &amp; PAYMENTS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923D70-8950-412D-9672-DBFEA47B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What has been earned, paid, delayed, or lost?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276EF8-E604-45DB-93F3-E0DE19C8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339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3400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6F93A-8B82-4C27-85B8-EAC8BA7E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58CCF-3DCC-412D-9C04-AF7C74D3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C20A3-12D0-419E-978A-6446E21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INFORMATION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25533-B254-4C65-AF60-1777CBA0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C9D8E-4526-48F0-95A0-042DBDF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FDB00-E88B-4F92-9C9B-D3C295E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Screens are views into one connected commercial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9AADD-52B5-4231-B628-13AB0AA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A655E"/>
                </a:solidFill>
              </a:defRPr>
            </a:pPr>
            <a:r>
              <a:rPr sz="1425" b="0" i="0">
                <a:solidFill>
                  <a:srgbClr val="6A655E"/>
                </a:solidFill>
              </a:rPr>
              <a:t>One fact, entered once. Context should inherit across the lifecycle.</a:t>
            </a:r>
          </a:p>
        </p:txBody>
      </p:sp>
      <p:sp>
        <p:nvSpPr>
          <p:cNvPr id="8" name="asset-core">
            <a:extLst xmlns:a="http://schemas.openxmlformats.org/drawingml/2006/main">
              <a:ext uri="{FF2B5EF4-FFF2-40B4-BE49-F238E27FC236}">
                <a16:creationId xmlns:a16="http://schemas.microsoft.com/office/drawing/2014/main" id="{862FA485-53BA-4B3F-B444-111DA050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2590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1212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0F1F7-2EB3-47D0-85AB-1BE0BF1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ASSET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51F72-C148-4257-808A-B5EF747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C8C1B8"/>
                </a:solidFill>
              </a:defRPr>
            </a:pPr>
            <a:r>
              <a:rPr sz="1200" b="0" i="0">
                <a:solidFill>
                  <a:srgbClr val="C8C1B8"/>
                </a:solidFill>
              </a:rPr>
              <a:t>The canonical commercial record</a:t>
            </a:r>
          </a:p>
        </p:txBody>
      </p:sp>
      <p:sp>
        <p:nvSpPr>
          <p:cNvPr id="11" name="OPPORTUNITY">
            <a:extLst xmlns:a="http://schemas.openxmlformats.org/drawingml/2006/main">
              <a:ext uri="{FF2B5EF4-FFF2-40B4-BE49-F238E27FC236}">
                <a16:creationId xmlns:a16="http://schemas.microsoft.com/office/drawing/2014/main" id="{C550C622-C4BE-4C00-A744-DD181A9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83BC6-B844-4544-985F-BF6A0F8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83004-9263-4677-8F00-D4FE058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Story · source · timing</a:t>
            </a:r>
          </a:p>
        </p:txBody>
      </p:sp>
      <p:sp>
        <p:nvSpPr>
          <p:cNvPr id="14" name="SHOOT">
            <a:extLst xmlns:a="http://schemas.openxmlformats.org/drawingml/2006/main">
              <a:ext uri="{FF2B5EF4-FFF2-40B4-BE49-F238E27FC236}">
                <a16:creationId xmlns:a16="http://schemas.microsoft.com/office/drawing/2014/main" id="{A5779914-48EF-46AA-A084-82F82CCF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BA415-DEAD-47E7-AA6F-A1D328A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SHOOT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D509C-8449-47A8-8AE8-5616DDE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Brief · people · costs</a:t>
            </a:r>
          </a:p>
        </p:txBody>
      </p:sp>
      <p:sp>
        <p:nvSpPr>
          <p:cNvPr id="17" name="SUBMISSION">
            <a:extLst xmlns:a="http://schemas.openxmlformats.org/drawingml/2006/main">
              <a:ext uri="{FF2B5EF4-FFF2-40B4-BE49-F238E27FC236}">
                <a16:creationId xmlns:a16="http://schemas.microsoft.com/office/drawing/2014/main" id="{BCDA1B54-0B0B-4738-B8E9-34C5585E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E9344-6784-4ADB-8019-0BDE1489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2991F-EEE1-4DE3-9A6E-D7D5BF98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336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Buyer · terms · outcome</a:t>
            </a:r>
          </a:p>
        </p:txBody>
      </p:sp>
      <p:sp>
        <p:nvSpPr>
          <p:cNvPr id="20" name="LICENSE / USAGE">
            <a:extLst xmlns:a="http://schemas.openxmlformats.org/drawingml/2006/main">
              <a:ext uri="{FF2B5EF4-FFF2-40B4-BE49-F238E27FC236}">
                <a16:creationId xmlns:a16="http://schemas.microsoft.com/office/drawing/2014/main" id="{3183B5FB-3A8C-4983-A960-AF53D5C7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BCC81-2CC6-4115-9D57-C4132A4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48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LICENSE / USAGE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4E1F8-912D-4AAF-9DD6-9E2ED9F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62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Media · territory · fee</a:t>
            </a:r>
          </a:p>
        </p:txBody>
      </p:sp>
      <p:sp>
        <p:nvSpPr>
          <p:cNvPr id="23" name="PAYMENT">
            <a:extLst xmlns:a="http://schemas.openxmlformats.org/drawingml/2006/main">
              <a:ext uri="{FF2B5EF4-FFF2-40B4-BE49-F238E27FC236}">
                <a16:creationId xmlns:a16="http://schemas.microsoft.com/office/drawing/2014/main" id="{A76A3E3F-C3E1-4D16-925A-EBBEE66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E96D7-703D-4026-A035-7E5CBA8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244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21212"/>
                </a:solidFill>
              </a:defRPr>
            </a:pPr>
            <a:r>
              <a:rPr sz="1200" b="1" i="0">
                <a:solidFill>
                  <a:srgbClr val="121212"/>
                </a:solidFill>
              </a:rPr>
              <a:t>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E64C4-9636-4524-A1B3-5130768E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387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Expected · received · splits</a:t>
            </a:r>
          </a:p>
        </p:txBody>
      </p:sp>
      <p:sp>
        <p:nvSpPr>
          <p:cNvPr id="26" name="RIGHTS MATCH">
            <a:extLst xmlns:a="http://schemas.openxmlformats.org/drawingml/2006/main">
              <a:ext uri="{FF2B5EF4-FFF2-40B4-BE49-F238E27FC236}">
                <a16:creationId xmlns:a16="http://schemas.microsoft.com/office/drawing/2014/main" id="{419919BC-16C9-48ED-914A-C659B29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62150"/>
            <a:ext cx="2781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187A5-677C-4882-A9A7-9EDE9ABC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C9252D"/>
                </a:solidFill>
              </a:defRPr>
            </a:pPr>
            <a:r>
              <a:rPr sz="1200" b="1" i="0">
                <a:solidFill>
                  <a:srgbClr val="C9252D"/>
                </a:solidFill>
              </a:rPr>
              <a:t>RIGHTS MATCH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C5394-912A-4E3A-ADFD-78637E8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A655E"/>
                </a:solidFill>
              </a:defRPr>
            </a:pPr>
            <a:r>
              <a:rPr sz="1125" b="0" i="0">
                <a:solidFill>
                  <a:srgbClr val="6A655E"/>
                </a:solidFill>
              </a:rPr>
              <a:t>Evidence · confidence · status</a:t>
            </a:r>
          </a:p>
        </p:txBody>
      </p:sp>
      <p:cxnSp>
        <p:nvCxnSpPr>
          <p:cNvPr id="132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2686050"/>
            <a:ext cx="11811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cxnSp>
        <p:nvCxnSpPr>
          <p:cNvPr id="133" name=""/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619500" y="3486150"/>
            <a:ext cx="11811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cxnSp>
        <p:nvCxnSpPr>
          <p:cNvPr id="134" name=""/>
          <p:cNvCxnSpPr>
            <a:stCxn xmlns:a="http://schemas.openxmlformats.org/drawingml/2006/main" id="1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391400" y="2686050"/>
            <a:ext cx="11811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cxnSp>
        <p:nvCxnSpPr>
          <p:cNvPr id="135" name=""/>
          <p:cNvCxnSpPr>
            <a:stCxn xmlns:a="http://schemas.openxmlformats.org/drawingml/2006/main" id="2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391400" y="3486150"/>
            <a:ext cx="11811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cxnSp>
        <p:nvCxnSpPr>
          <p:cNvPr id="136" name=""/>
          <p:cNvCxnSpPr>
            <a:stCxn xmlns:a="http://schemas.openxmlformats.org/drawingml/2006/main" id="2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096000" y="4038600"/>
            <a:ext cx="952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cxnSp>
        <p:nvCxnSpPr>
          <p:cNvPr id="137" name=""/>
          <p:cNvCxnSpPr>
            <a:stCxn xmlns:a="http://schemas.openxmlformats.org/drawingml/2006/main" id="2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2838450"/>
            <a:ext cx="952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0A4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38DFD2-09F7-449C-8A67-A7F823ED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6A655E"/>
                </a:solidFill>
              </a:defRPr>
            </a:pPr>
            <a:r>
              <a:rPr sz="1275" b="0" i="1">
                <a:solidFill>
                  <a:srgbClr val="6A655E"/>
                </a:solidFill>
              </a:rPr>
              <a:t>The shoot populates the asset. The asset populates dispatch. The submission populates revenue. The license informs rights matching.</a:t>
            </a:r>
          </a:p>
        </p:txBody>
      </p:sp>
    </p:spTree>
    <p:extLst>
      <p:ext uri="{BB962C8B-B14F-4D97-AF65-F5344CB8AC3E}">
        <p14:creationId xmlns:p14="http://schemas.microsoft.com/office/powerpoint/2010/main" val="657953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B52EA-0C27-4C09-BC7B-9CF9820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F6B1B-FA0F-4D7C-BC30-AD7606E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4A7E6-2041-472E-B2F8-136E2B2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INTELLIGENCE &amp;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52FE-BD48-4FDE-817C-CD73BDD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23EFD-00FF-4B99-A187-9A4C943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C3F3C-522F-44C2-8804-E3D1EA0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Automation should accelerate judgment—not replace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D656-8BD6-4CC4-9A8F-4D0B6B4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21212"/>
                </a:solidFill>
              </a:defRPr>
            </a:pPr>
            <a:r>
              <a:rPr sz="2550" b="1" i="0">
                <a:solidFill>
                  <a:srgbClr val="121212"/>
                </a:solidFill>
              </a:rPr>
              <a:t>SUGGEST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01332-F673-4239-8000-328C0CB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C9252D"/>
                </a:solidFill>
              </a:defRPr>
            </a:pPr>
            <a:r>
              <a:rPr sz="2550" b="1" i="0">
                <a:solidFill>
                  <a:srgbClr val="C9252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6693E-6169-43C1-9AF1-F0594B9C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21212"/>
                </a:solidFill>
              </a:defRPr>
            </a:pPr>
            <a:r>
              <a:rPr sz="2550" b="1" i="0">
                <a:solidFill>
                  <a:srgbClr val="121212"/>
                </a:solidFill>
              </a:rPr>
              <a:t>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E5303-F237-407C-BB01-B56E5283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C9252D"/>
                </a:solidFill>
              </a:defRPr>
            </a:pPr>
            <a:r>
              <a:rPr sz="2550" b="1" i="0">
                <a:solidFill>
                  <a:srgbClr val="C9252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130C1-2137-447F-A040-F7EBD53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21212"/>
                </a:solidFill>
              </a:defRPr>
            </a:pPr>
            <a:r>
              <a:rPr sz="2550" b="1" i="0">
                <a:solidFill>
                  <a:srgbClr val="121212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127BE-D45F-49BD-B113-DE3A6FAF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A655E"/>
                </a:solidFill>
              </a:defRPr>
            </a:pPr>
            <a:r>
              <a:rPr sz="1725" b="0" i="0">
                <a:solidFill>
                  <a:srgbClr val="6A655E"/>
                </a:solidFill>
              </a:rPr>
              <a:t>Every suggestion should show its basis, confidence, evidence, and editable human decision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2F0B9-632E-44A6-8A40-768F1A14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667000" cy="41529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7004D-B0FE-43AC-A26F-477EB4E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19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WHERE IT HELPS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CF02D-467B-4D0C-B510-E30967D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0955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Metadata assistance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Selects support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Buyer-fit recommendations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Deadline follow-up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Rights-match triage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Archive intelligence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1212"/>
                </a:solidFill>
              </a:defRPr>
            </a:pPr>
            <a:r>
              <a:rPr sz="1425" b="0" i="0">
                <a:solidFill>
                  <a:srgbClr val="121212"/>
                </a:solidFill>
              </a:rPr>
              <a:t>• Revenue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42E5A-A9C1-4DC7-B994-E375025D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52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69C7A-4E2B-4E95-9E24-120D24F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21212"/>
                </a:solidFill>
              </a:defRPr>
            </a:pPr>
            <a:r>
              <a:rPr sz="1575" b="1" i="0">
                <a:solidFill>
                  <a:srgbClr val="121212"/>
                </a:solidFill>
              </a:rPr>
              <a:t>No consequential action—dispatch, invoice, escalation, or takedown—should happen without review.</a:t>
            </a:r>
          </a:p>
        </p:txBody>
      </p:sp>
    </p:spTree>
    <p:extLst>
      <p:ext uri="{BB962C8B-B14F-4D97-AF65-F5344CB8AC3E}">
        <p14:creationId xmlns:p14="http://schemas.microsoft.com/office/powerpoint/2010/main" val="1777174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96B19-F32A-405B-ADF7-61A355DB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B5330-37AD-42C0-833D-23620C6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F381C-3F77-40D0-8410-56FF42C1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RECOMMENDED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A2C32-C0BA-4424-BA26-289F4EA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C3677-B199-48EE-81CD-C7AEF7CF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13C53-EF8B-436A-B0AF-9F5CD10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Earn indispensability first. Add intelligence once the record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F1FBE-E225-4A4A-9368-F457978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8DD1F-938F-41A6-A98A-9686E9D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1212"/>
                </a:solidFill>
              </a:defRPr>
            </a:pPr>
            <a:r>
              <a:rPr sz="1725" b="1" i="0">
                <a:solidFill>
                  <a:srgbClr val="121212"/>
                </a:solidFill>
              </a:rPr>
              <a:t>OPERATOR 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C8C6B-FDF9-4D5E-BED4-7878AAF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A reliable path from assignment to payment.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42189-2A4C-4D73-A23D-B7AF7DAA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2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53213-316E-47A0-A56D-5F5A5380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3143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Work Queue and shoots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Files, captions, metadata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Dispatch and submissions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Assets, revenue, payments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22E28-8F51-4EB6-B5CB-B31EB2A0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47850"/>
            <a:ext cx="9525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9F70D-109A-40A7-9E73-56DF232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0C601-7C95-4489-8533-AF7D0EBC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1212"/>
                </a:solidFill>
              </a:defRPr>
            </a:pPr>
            <a:r>
              <a:rPr sz="1725" b="1" i="0">
                <a:solidFill>
                  <a:srgbClr val="121212"/>
                </a:solidFill>
              </a:rPr>
              <a:t>REVENUE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7D349-29BB-47C5-AFE7-0DC6205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Make existing work earn more—and expose leakage.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C644E-FAB8-4750-B8D2-F150158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5FAF8-6D61-445A-91BA-4D0CF2D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3143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News-to-archive matching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Buyer-fit analytics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Statement reconciliation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Rights triage and net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C21A5-1D6C-4CF6-A6C9-D05A315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9525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54FAB-CA92-4D76-98C5-F3B27E4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PHASE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90B4B-8856-43B0-BADF-DA86B3C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1212"/>
                </a:solidFill>
              </a:defRPr>
            </a:pPr>
            <a:r>
              <a:rPr sz="1725" b="1" i="0">
                <a:solidFill>
                  <a:srgbClr val="121212"/>
                </a:solidFill>
              </a:rPr>
              <a:t>SCALE &amp;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E928E-A3E5-4C93-9F5F-D183D26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Run complex teams without losing speed or ownership.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FF655-3B55-4C29-97C0-D7EE1D0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606E9-CC91-49BF-B5F9-93C3AF8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3143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Permissions and approvals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Agency-wide reporting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Outlet templates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• Integrations and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E4346-7084-4432-9A14-289B5798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1">
                <a:solidFill>
                  <a:srgbClr val="6A655E"/>
                </a:solidFill>
              </a:defRPr>
            </a:pPr>
            <a:r>
              <a:rPr sz="1425" b="0" i="1">
                <a:solidFill>
                  <a:srgbClr val="6A655E"/>
                </a:solidFill>
              </a:rPr>
              <a:t>Every expansion must strengthen speed, commercial memory, revenue visibility, or control over owned work.</a:t>
            </a:r>
          </a:p>
        </p:txBody>
      </p:sp>
    </p:spTree>
    <p:extLst>
      <p:ext uri="{BB962C8B-B14F-4D97-AF65-F5344CB8AC3E}">
        <p14:creationId xmlns:p14="http://schemas.microsoft.com/office/powerpoint/2010/main" val="1526396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B83A7-8278-41CF-B252-93F178D9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ECA7C-D090-44C0-B55A-4AF3BC0B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875B8-31C6-4F04-B216-14208D0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507B4-AAEA-48E6-A2AE-5641078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8C736-27D8-4017-B3EB-981C6DF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36DB7-F5B6-47F4-BCCF-1A2D7E6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Recurring software at the core. Shared upside only where Mastline creates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517AA-2535-45B1-A60B-7159D5E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191125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3EFE7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5566A-A1E8-445E-BB6D-180D4FDF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FINAL SUBSCRIPTIONS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DE1CC-7152-4825-BC38-DE6CA6A8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1212"/>
                </a:solidFill>
              </a:defRPr>
            </a:pPr>
            <a:r>
              <a:rPr sz="1800" b="1" i="0">
                <a:solidFill>
                  <a:srgbClr val="121212"/>
                </a:solidFill>
              </a:rPr>
              <a:t>Solo · $49 / $59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4BB1E-BB56-49C2-A2FF-C5613047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Annual / monthly · 1 photographer · 250 GB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0461D-2CE9-400E-BE04-EC4D4BE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23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667F5-9CA0-4E99-AEC4-24EB680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1212"/>
                </a:solidFill>
              </a:defRPr>
            </a:pPr>
            <a:r>
              <a:rPr sz="1800" b="1" i="0">
                <a:solidFill>
                  <a:srgbClr val="121212"/>
                </a:solidFill>
              </a:rPr>
              <a:t>Pro · $99 / $119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1BC90-1F28-434C-8273-EAE05123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A655E"/>
                </a:solidFill>
              </a:defRPr>
            </a:pPr>
            <a:r>
              <a:rPr sz="1350" b="0" i="0">
                <a:solidFill>
                  <a:srgbClr val="6A655E"/>
                </a:solidFill>
              </a:rPr>
              <a:t>Annual / monthly · Archive intelligence · 1 TB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115E0-AC6D-4A3C-8217-DA6BFC9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47850"/>
            <a:ext cx="5362575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1212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CA2E7-37FC-44F2-8D8E-6A8AFB6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52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8C1B8"/>
                </a:solidFill>
              </a:defRPr>
            </a:pPr>
            <a:r>
              <a:rPr sz="1050" b="1" i="0">
                <a:solidFill>
                  <a:srgbClr val="C8C1B8"/>
                </a:solidFill>
              </a:rPr>
              <a:t>MASTLINE SALES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BFC81-D83C-4F53-958B-2261057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FBF9F4"/>
                </a:solidFill>
              </a:defRPr>
            </a:pPr>
            <a:r>
              <a:rPr sz="6150" b="1" i="0">
                <a:solidFill>
                  <a:srgbClr val="FBF9F4"/>
                </a:solidFill>
              </a:rPr>
              <a:t>70 / 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6B9E1-3077-4DCC-BB97-474BB8C4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BF9F4"/>
                </a:solidFill>
              </a:defRPr>
            </a:pPr>
            <a:r>
              <a:rPr sz="1650" b="1" i="0">
                <a:solidFill>
                  <a:srgbClr val="FBF9F4"/>
                </a:solidFill>
              </a:rPr>
              <a:t>Photographer 70% · Mastline 30% only on licenses generated inside Mastline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EAAF6-BACB-414E-B6FF-8CCB456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Studio · $279 / $339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68B51-CBC9-4247-9C6D-ED1AEDD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1212"/>
                </a:solidFill>
              </a:defRPr>
            </a:pPr>
            <a:r>
              <a:rPr sz="1650" b="1" i="0">
                <a:solidFill>
                  <a:srgbClr val="121212"/>
                </a:solidFill>
              </a:rPr>
              <a:t>Up to 5 people · 5 TB shared   |   Agency · Custom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DF097-4434-4043-9013-D45C443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A655E"/>
                </a:solidFill>
              </a:defRPr>
            </a:pPr>
            <a:r>
              <a:rPr sz="1350" b="0" i="1">
                <a:solidFill>
                  <a:srgbClr val="6A655E"/>
                </a:solidFill>
              </a:rPr>
              <a:t>Annual prices are per month, billed annually. Solo, Pro, and Studio start free; trial duration is still to be set.</a:t>
            </a:r>
          </a:p>
        </p:txBody>
      </p:sp>
    </p:spTree>
    <p:extLst>
      <p:ext uri="{BB962C8B-B14F-4D97-AF65-F5344CB8AC3E}">
        <p14:creationId xmlns:p14="http://schemas.microsoft.com/office/powerpoint/2010/main" val="1516893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CC692-0E14-42C5-8403-0B01410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BF9F4"/>
                </a:solidFill>
              </a:defRPr>
            </a:pPr>
            <a:r>
              <a:rPr sz="1350" b="1" i="0">
                <a:solidFill>
                  <a:srgbClr val="FBF9F4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5DA3A-94F2-4E18-B4B7-04E954B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1C40-BD6A-40A1-A4BC-FE7A598E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BEB7AE"/>
                </a:solidFill>
              </a:defRPr>
            </a:pPr>
            <a:r>
              <a:rPr sz="900" b="1" i="0">
                <a:solidFill>
                  <a:srgbClr val="BEB7AE"/>
                </a:solidFill>
              </a:rPr>
              <a:t>TRUST, SAFETY &amp; LEGAL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F9125-7131-4E57-8BED-3AFDBC9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BEB7AE"/>
                </a:solidFill>
              </a:defRPr>
            </a:pPr>
            <a:r>
              <a:rPr sz="900" b="1" i="0">
                <a:solidFill>
                  <a:srgbClr val="BEB7AE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8C9F8-75BE-4836-B24E-6604E8A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3A9AA-4564-4EB6-97CF-77F7F7B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BF9F4"/>
                </a:solidFill>
              </a:defRPr>
            </a:pPr>
            <a:r>
              <a:rPr sz="2850" b="1" i="0">
                <a:solidFill>
                  <a:srgbClr val="FBF9F4"/>
                </a:solidFill>
              </a:rPr>
              <a:t>Trust is product architecture—not an administrative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30A58-97E9-46B2-840F-D6C1071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BEB7AE"/>
                </a:solidFill>
              </a:defRPr>
            </a:pPr>
            <a:r>
              <a:rPr sz="1575" b="0" i="0">
                <a:solidFill>
                  <a:srgbClr val="BEB7AE"/>
                </a:solidFill>
              </a:rPr>
              <a:t>Mastline will hold sensitive media, locations, buyer relationships, financial records, and potential legal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464CD-791A-4093-BFD7-90A01C79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7E27-F64F-4100-B002-1D6807CC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Preserve originals, metadata, import history, edits, derivatives, and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ABD3E-AE9B-47EB-907F-43ED6AE2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8B30A-41C3-4939-9F78-32A299E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24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F4743-C234-4093-A13A-FB47193E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861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Separate owner, editor, dispatcher, finance, and rights-review permissions.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EB326-FCDE-4587-BFC0-E587611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957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12357-8DE9-41FE-BE35-5E921842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20492-F9E0-45FB-AFAC-FA77E182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Encrypt, back up, export, and apply clear retention controls.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39C0B-A325-4BD5-A883-B55A7BC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98BE3-6946-4BEE-823E-60408B8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EF09F-A5FD-4E81-9DD4-6451746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910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Confirm outbound submissions, invoices, escalations, and takedowns.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D3CCD-AC21-4F0C-BECD-CCF212A1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006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70041-B32F-4287-876B-FE2766E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JURISDICTION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33E8E-FC18-4C37-8988-4806635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Store facts and route decisions without implying universal legal conclusions.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C3EFD-DE65-4DF7-A501-FCCF351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A88A1-0841-4521-BC38-840C4E9F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933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252D"/>
                </a:solidFill>
              </a:defRPr>
            </a:pPr>
            <a:r>
              <a:rPr sz="1050" b="1" i="0">
                <a:solidFill>
                  <a:srgbClr val="C9252D"/>
                </a:solidFill>
              </a:rPr>
              <a:t>SOURCE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DFC6C-1304-4286-9348-318BA4D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95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BF9F4"/>
                </a:solidFill>
              </a:defRPr>
            </a:pPr>
            <a:r>
              <a:rPr sz="1425" b="0" i="0">
                <a:solidFill>
                  <a:srgbClr val="FBF9F4"/>
                </a:solidFill>
              </a:rPr>
              <a:t>Control visibility for confidential tips, locations, and identities.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73FB5-D06C-4B90-AD87-12FCFFD0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9055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1552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BFD57A-3BD2-483E-BE9D-B72808F4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49F01-90AC-43C1-99D5-C002373A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CDC6C-AAC3-4A6E-AD7D-75400A07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SUCCESS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63300-0F1C-46C8-BE15-2BE90E12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A9F86-F42C-4F6F-A64B-0982471C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5D030-F1C4-4123-858B-81A5FDBE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Measure whether Mastline makes the business faster, richer, and more 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E3DE3-9839-40DD-B35B-D0EC31A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21212"/>
                </a:solidFill>
              </a:defRPr>
            </a:pPr>
            <a:r>
              <a:rPr sz="2250" b="1" i="0">
                <a:solidFill>
                  <a:srgbClr val="121212"/>
                </a:solidFill>
              </a:rPr>
              <a:t>SPEED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DC0B4-688E-4B2B-AE4B-479F6EE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A655E"/>
                </a:solidFill>
              </a:defRPr>
            </a:pPr>
            <a:r>
              <a:rPr sz="1350" b="1" i="0">
                <a:solidFill>
                  <a:srgbClr val="6A655E"/>
                </a:solidFill>
              </a:rPr>
              <a:t>How quickly can work move?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AAC0B-341F-4AEE-8174-839FECA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9F0C3-E68B-42A1-887E-3455AC4C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8FDCB-88DD-4B7F-84F2-DE62D5E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Capture → first dispatch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530A6-B607-4A47-8EC2-0E20DFD4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B004B-D12F-43C6-B183-B3FA4B41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Dispatch metadata pass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F649A-F329-4292-AAC0-00A45D8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3B560-8E62-459A-9E7D-22F354C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Weekly full-workflow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C10FB-AD70-4EB7-B87C-37841838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9252D"/>
                </a:solidFill>
              </a:defRPr>
            </a:pPr>
            <a:r>
              <a:rPr sz="2250" b="1" i="0">
                <a:solidFill>
                  <a:srgbClr val="C9252D"/>
                </a:solidFill>
              </a:rPr>
              <a:t>EARNINGS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3EAA6-E6B4-4932-8B09-10C7371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A655E"/>
                </a:solidFill>
              </a:defRPr>
            </a:pPr>
            <a:r>
              <a:rPr sz="1350" b="1" i="0">
                <a:solidFill>
                  <a:srgbClr val="6A655E"/>
                </a:solidFill>
              </a:rPr>
              <a:t>Does more work create more value?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8BC83-61EE-4B88-8E12-6AE4EC83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25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15EC8-9AD1-4A22-B0E6-9C92F2E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7C317-D8BB-4EA7-BF66-AC8AEFF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Submission-to-sale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E484-335B-4B06-80AA-58FA6D52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81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71A6B-CDE4-4F63-990B-9007887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43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Revenue and margin per shoot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63071-FF53-4576-BBA5-975C625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86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56FD6-4B19-4068-B386-D1E2D6F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48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Archive share of total revenue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A4126-BFC9-43F5-8B98-A7B087F3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21212"/>
                </a:solidFill>
              </a:defRPr>
            </a:pPr>
            <a:r>
              <a:rPr sz="2250" b="1" i="0">
                <a:solidFill>
                  <a:srgbClr val="121212"/>
                </a:solidFill>
              </a:rPr>
              <a:t>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7790F-EDA4-4682-AB46-D864CCD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A655E"/>
                </a:solidFill>
              </a:defRPr>
            </a:pPr>
            <a:r>
              <a:rPr sz="1350" b="1" i="0">
                <a:solidFill>
                  <a:srgbClr val="6A655E"/>
                </a:solidFill>
              </a:rPr>
              <a:t>Can the operator see the truth?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0BBE1-192D-4F44-B9BD-D68B95E9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70F53-E8FA-42DA-9AF5-9ABD32A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BB5D7-08A3-4672-A202-770A0FE2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Sale → payment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728B1-A3F7-40DB-B50D-2FB94442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81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E71977-D34C-4DA2-A7CA-79BADB1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Aging receivables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A7D0A-7B3A-4E40-9B98-F23D123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9B099-F308-4C64-A668-4C0ED7D9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212"/>
                </a:solidFill>
              </a:defRPr>
            </a:pPr>
            <a:r>
              <a:rPr sz="1500" b="1" i="0">
                <a:solidFill>
                  <a:srgbClr val="121212"/>
                </a:solidFill>
              </a:rPr>
              <a:t>Verified matches and recovery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600FB-7562-42F0-9508-B6F32C1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1">
                <a:solidFill>
                  <a:srgbClr val="6A655E"/>
                </a:solidFill>
              </a:defRPr>
            </a:pPr>
            <a:r>
              <a:rPr sz="1425" b="0" i="1">
                <a:solidFill>
                  <a:srgbClr val="6A655E"/>
                </a:solidFill>
              </a:rPr>
              <a:t>The north star is product indispensability—not passive storage.</a:t>
            </a:r>
          </a:p>
        </p:txBody>
      </p:sp>
    </p:spTree>
    <p:extLst>
      <p:ext uri="{BB962C8B-B14F-4D97-AF65-F5344CB8AC3E}">
        <p14:creationId xmlns:p14="http://schemas.microsoft.com/office/powerpoint/2010/main" val="1191217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C6E15-4058-4AE7-9F65-E17CF5D9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14445-F70A-4F72-AAF7-93F98FC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B804-E1AC-4F34-802B-6D5508FB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DIFFERENTIATION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ABEEC-A9D4-4AC6-923A-93925DB1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34EAB-0F4F-47D4-BF4F-93C5C8F9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F9CD-87A2-43D8-B7B0-13AB6D4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The advantage is shared context across the full lifecycle.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4F050-0663-4D50-A379-0177579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A655E"/>
                </a:solidFill>
              </a:defRPr>
            </a:pPr>
            <a:r>
              <a:rPr sz="1500" b="0" i="0">
                <a:solidFill>
                  <a:srgbClr val="6A655E"/>
                </a:solidFill>
              </a:rPr>
              <a:t>No single feature must be unprecedented. The product wins when every feature strengthens the same photographer-owned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4809A-3048-424A-AB82-2F1E3AC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55E"/>
                </a:solidFill>
              </a:defRPr>
            </a:pPr>
            <a:r>
              <a:rPr sz="975" b="1" i="0">
                <a:solidFill>
                  <a:srgbClr val="6A655E"/>
                </a:solidFill>
              </a:rPr>
              <a:t>ALTERNATIVE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E7490-A60E-4B25-9117-6979C084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WHAT MASTLINE ADDS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DC0D0-FD64-49AF-842B-70C0580E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ED718-5EFA-460E-803A-A9B3B4E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Agency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1EC2D-DB70-48B0-A948-198ED72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Photographer-owned history across every buyer and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87106-450E-447D-B9B1-AA3973F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3FF7A-739B-482F-8D28-A876692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Digital asset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65E96-52EC-4F68-B832-5FAF355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Opportunity, dispatch, sales, rights, and revenue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5BBD1-CCEA-4D8C-8489-68095EA4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D8BA4-FD16-4626-875E-143F055B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Project-management 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072F1-0367-42FC-9D95-205B9522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Image-level provenance, submissions, licenses, and earnings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465AD-44F7-478B-A993-10C0B08C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F3FEB-6AF9-411D-84EA-A937BA5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Rights-monitoring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C056B-F4B2-4B26-8D9F-4895F8C4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Authorization context, asset history, and operational triage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70BB3-EF21-4C14-ACB2-759F9BE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EA4E6-07B6-444F-9375-6609AA97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News alert product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F0CB3-EBA3-4B18-9992-A2B201C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212"/>
                </a:solidFill>
              </a:defRPr>
            </a:pPr>
            <a:r>
              <a:rPr sz="1350" b="0" i="0">
                <a:solidFill>
                  <a:srgbClr val="121212"/>
                </a:solidFill>
              </a:rPr>
              <a:t>Direct links from news to shoots, archive assets, buyers, and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192A8-18DE-48C3-AE0F-28DD2C7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FB6D4-912E-4754-AA1C-89E88171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Spreadsheet + 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F5FA7-DFFC-434C-8384-27F60664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1020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9252D"/>
                </a:solidFill>
              </a:defRPr>
            </a:pPr>
            <a:r>
              <a:rPr sz="1350" b="1" i="0">
                <a:solidFill>
                  <a:srgbClr val="C9252D"/>
                </a:solidFill>
              </a:rPr>
              <a:t>One connected, searchable, automated system of record</a:t>
            </a:r>
          </a:p>
        </p:txBody>
      </p:sp>
    </p:spTree>
    <p:extLst>
      <p:ext uri="{BB962C8B-B14F-4D97-AF65-F5344CB8AC3E}">
        <p14:creationId xmlns:p14="http://schemas.microsoft.com/office/powerpoint/2010/main" val="1274521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E2010-3368-43E6-A8EB-2F12AD51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MASTLINE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A57AA-9A9B-43CB-88D2-35FE8C51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9BB8C-39F9-4E7A-BFE9-41DA4CFD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LAUNCH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7994D-BAAA-494A-AA1A-37F75C75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A655E"/>
                </a:solidFill>
              </a:defRPr>
            </a:pPr>
            <a:r>
              <a:rPr sz="900" b="1" i="0">
                <a:solidFill>
                  <a:srgbClr val="6A655E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44FDC-2B94-4CF8-A883-15D2848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F702A-E9DF-4BF0-9A3E-22B02281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21212"/>
                </a:solidFill>
              </a:defRPr>
            </a:pPr>
            <a:r>
              <a:rPr sz="3000" b="1" i="0">
                <a:solidFill>
                  <a:srgbClr val="121212"/>
                </a:solidFill>
              </a:rPr>
              <a:t>Begin with operators who feel the pain—and can complete the loop in live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84698-33ED-4C06-9DEC-60E23825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FIRST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1B84-ABF4-4E35-AC96-C236428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21212"/>
                </a:solidFill>
              </a:defRPr>
            </a:pPr>
            <a:r>
              <a:rPr sz="2100" b="0" i="0">
                <a:solidFill>
                  <a:srgbClr val="121212"/>
                </a:solidFill>
              </a:rPr>
              <a:t>Independent professionals and teams 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45557-8822-4299-9278-9905A5A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121212"/>
                </a:solidFill>
              </a:defRPr>
            </a:pPr>
            <a:r>
              <a:rPr sz="5400" b="1" i="0">
                <a:solidFill>
                  <a:srgbClr val="121212"/>
                </a:solidFill>
              </a:rPr>
              <a:t>2–10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53316-80E4-41FD-A472-D5D2789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1212"/>
                </a:solidFill>
              </a:defRPr>
            </a:pPr>
            <a:r>
              <a:rPr sz="1650" b="1" i="0">
                <a:solidFill>
                  <a:srgbClr val="121212"/>
                </a:solidFill>
              </a:rPr>
              <a:t>people producing meaningful volume through informal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CA23-6D6F-461F-9AEA-5098F11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5433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1212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E5D3-9727-4C50-9231-B60E2AA1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C1B8"/>
                </a:solidFill>
              </a:defRPr>
            </a:pPr>
            <a:r>
              <a:rPr sz="975" b="1" i="0">
                <a:solidFill>
                  <a:srgbClr val="C8C1B8"/>
                </a:solidFill>
              </a:rPr>
              <a:t>FIRST PROMISE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95831-1AEB-4E81-8096-4A2B160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BF9F4"/>
                </a:solidFill>
              </a:defRPr>
            </a:pPr>
            <a:r>
              <a:rPr sz="1800" b="1" i="0">
                <a:solidFill>
                  <a:srgbClr val="FBF9F4"/>
                </a:solidFill>
              </a:rPr>
              <a:t>Keep every shoot, image, submission, and dollar in one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C400F-0841-4FB6-A8CE-71202A8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THE FIRST COMPLETE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0A1F1-882D-47A3-A1AD-26A4112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74D2-9E4E-4671-903B-C4FC6C7E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Create a shoot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75DB-0600-4B45-90C9-806B5B0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815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8B0A4"/>
                </a:solidFill>
              </a:defRPr>
            </a:pPr>
            <a:r>
              <a:rPr sz="1800" b="1" i="0">
                <a:solidFill>
                  <a:srgbClr val="B8B0A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9BA6A-2A2B-48EA-86AB-EAF4BD31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EAC5F-BBBD-409F-A3A4-4CB7191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Add images +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27973-40BF-4364-8E4B-849DC756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815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8B0A4"/>
                </a:solidFill>
              </a:defRPr>
            </a:pPr>
            <a:r>
              <a:rPr sz="1800" b="1" i="0">
                <a:solidFill>
                  <a:srgbClr val="B8B0A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017EF-0074-436D-840A-80A9E83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4B885-7AB7-4AF5-9D51-809EBE0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911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Approve dispatch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00B4D-B3B5-4936-917D-FB334D9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8B0A4"/>
                </a:solidFill>
              </a:defRPr>
            </a:pPr>
            <a:r>
              <a:rPr sz="1800" b="1" i="0">
                <a:solidFill>
                  <a:srgbClr val="B8B0A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92166-8F26-4716-A61B-662381A8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C25EF-EAD3-4CDA-B032-5E9F576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Record submission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CF5C0-8BDD-4687-A40A-D3099AA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815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8B0A4"/>
                </a:solidFill>
              </a:defRPr>
            </a:pPr>
            <a:r>
              <a:rPr sz="1800" b="1" i="0">
                <a:solidFill>
                  <a:srgbClr val="B8B0A4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B90CE-B83E-4B96-97F2-4D84F304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9252D"/>
                </a:solidFill>
              </a:defRPr>
            </a:pPr>
            <a:r>
              <a:rPr sz="975" b="1" i="0">
                <a:solidFill>
                  <a:srgbClr val="C9252D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E66B8-98E4-4618-8D53-66B3A725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911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212"/>
                </a:solidFill>
              </a:defRPr>
            </a:pPr>
            <a:r>
              <a:rPr sz="1350" b="1" i="0">
                <a:solidFill>
                  <a:srgbClr val="121212"/>
                </a:solidFill>
              </a:rPr>
              <a:t>Connect sale or payment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9A9CA-3775-49D9-81D3-5529CFB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6C2E0-D5CA-4BDB-9748-56E5EA10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1">
                <a:solidFill>
                  <a:srgbClr val="6A655E"/>
                </a:solidFill>
              </a:defRPr>
            </a:pPr>
            <a:r>
              <a:rPr sz="1425" b="0" i="1">
                <a:solidFill>
                  <a:srgbClr val="6A655E"/>
                </a:solidFill>
              </a:rPr>
              <a:t>If one live shoot is not materially easier, the broader intelligence and rights vision will not matter.</a:t>
            </a:r>
          </a:p>
        </p:txBody>
      </p:sp>
    </p:spTree>
    <p:extLst>
      <p:ext uri="{BB962C8B-B14F-4D97-AF65-F5344CB8AC3E}">
        <p14:creationId xmlns:p14="http://schemas.microsoft.com/office/powerpoint/2010/main" val="1065898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A8718-AB02-4F4B-824C-88734B9F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"/>
            <a:ext cx="563880" cy="365760"/>
          </a:xfrm>
          <a:prstGeom xmlns:a="http://schemas.openxmlformats.org/drawingml/2006/main" prst="roundRect">
            <a:avLst>
              <a:gd name="adj" fmla="val 1458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BF9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93E2C-0AD8-41D3-B5BF-E76F8BC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571500"/>
            <a:ext cx="182880" cy="9906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BF9F4"/>
          </a:solidFill>
          <a:ln xmlns:a="http://schemas.openxmlformats.org/drawingml/2006/main" w="0">
            <a:solidFill>
              <a:srgbClr val="FBF9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3E272-9D3F-411A-B9CA-EFECD87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" y="71628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F9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E47F4-EF84-44BF-B4B6-DDABA61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" y="6934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73207-1A99-4D2D-91B8-CB27E00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1" i="0">
                <a:solidFill>
                  <a:srgbClr val="FBF9F4"/>
                </a:solidFill>
              </a:defRPr>
            </a:pPr>
            <a:r>
              <a:rPr sz="1425" b="1" i="0">
                <a:solidFill>
                  <a:srgbClr val="FBF9F4"/>
                </a:solidFill>
              </a:rPr>
              <a:t>MASTLINE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6C924-99E3-49AB-B91C-6E16ECD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ABAB2-37F0-49EE-B40B-B97528F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9252D"/>
                </a:solidFill>
              </a:defRPr>
            </a:pPr>
            <a:r>
              <a:rPr sz="1125" b="1" i="0">
                <a:solidFill>
                  <a:srgbClr val="C9252D"/>
                </a:solidFill>
              </a:rPr>
              <a:t>The larger 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552E8-4E78-45B9-A643-524AC3DD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9906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BF9F4"/>
                </a:solidFill>
              </a:defRPr>
            </a:pPr>
            <a:r>
              <a:rPr sz="3900" b="1" i="0">
                <a:solidFill>
                  <a:srgbClr val="FBF9F4"/>
                </a:solidFill>
              </a:rPr>
              <a:t>Turn a stream of urgent moments into a durable commercial asset.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9BB27-ABD8-49CD-B8D1-611259D5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57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7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6CB03-9EA6-41CD-BBD7-9868A4A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BEB7AE"/>
                </a:solidFill>
              </a:defRPr>
            </a:pPr>
            <a:r>
              <a:rPr sz="1725" b="0" i="0">
                <a:solidFill>
                  <a:srgbClr val="BEB7AE"/>
                </a:solidFill>
              </a:rPr>
              <a:t>The product begins by helping photographers work faster. It earns the right to become something larger: infrastructure that gives independent visual journalists more ownership over the economics of their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238BE-A887-46EE-8AE2-BF4D0013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BF9F4"/>
                </a:solidFill>
              </a:defRPr>
            </a:pPr>
            <a:r>
              <a:rPr sz="1350" b="1" i="0">
                <a:solidFill>
                  <a:srgbClr val="FBF9F4"/>
                </a:solidFill>
              </a:rPr>
              <a:t>What does a body of work become when every image remembers its value?</a:t>
            </a:r>
          </a:p>
        </p:txBody>
      </p:sp>
    </p:spTree>
    <p:extLst>
      <p:ext uri="{BB962C8B-B14F-4D97-AF65-F5344CB8AC3E}">
        <p14:creationId xmlns:p14="http://schemas.microsoft.com/office/powerpoint/2010/main" val="1843464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2026-08-21T06:16:01.2860000Z</dcterms:created>
  <dcterms:modified xsi:type="dcterms:W3CDTF">2026-08-21T06:16:01.2860000Z</dcterms:modified>
</coreProperties>
</file>